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2286000" cy="3886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4320"/>
            <a:ext cx="2011680" cy="292608"/>
          </a:xfrm>
          <a:prstGeom prst="rect">
            <a:avLst>
              <a:gd name="adj" fmla="val 15625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⚡  36-HOUR HACKATHON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21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7FB3CC"/>
                </a:solidFill>
              </a:rPr>
              <a:t>IDEATION ROUND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DroneTrack</a:t>
            </a:r>
            <a:pPr indent="0" marL="0">
              <a:buNone/>
            </a:pPr>
            <a:r>
              <a:rPr lang="en-US" sz="6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Tracking Drone using Computer Vision &amp; ROS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Team: Team NOS   |   Track: Robotics &amp; AI   |   April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2011680" cy="685800"/>
          </a:xfrm>
          <a:prstGeom prst="rect">
            <a:avLst>
              <a:gd name="adj" fmla="val 6667"/>
            </a:avLst>
          </a:prstGeom>
          <a:solidFill>
            <a:srgbClr val="1A2E4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Simulation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B3CC"/>
                </a:solidFill>
              </a:rPr>
              <a:t>ROS 2 + Gazebo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880360"/>
            <a:ext cx="2011680" cy="685800"/>
          </a:xfrm>
          <a:prstGeom prst="rect">
            <a:avLst>
              <a:gd name="adj" fmla="val 6667"/>
            </a:avLst>
          </a:prstGeom>
          <a:solidFill>
            <a:srgbClr val="1A2E4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YOLOv8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B3CC"/>
                </a:solidFill>
              </a:rPr>
              <a:t>Detection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2011680" cy="685800"/>
          </a:xfrm>
          <a:prstGeom prst="rect">
            <a:avLst>
              <a:gd name="adj" fmla="val 6667"/>
            </a:avLst>
          </a:prstGeom>
          <a:solidFill>
            <a:srgbClr val="1A2E4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Kalman Filter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B3CC"/>
                </a:solidFill>
              </a:rPr>
              <a:t>Tracking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03720" y="2880360"/>
            <a:ext cx="2011680" cy="685800"/>
          </a:xfrm>
          <a:prstGeom prst="rect">
            <a:avLst>
              <a:gd name="adj" fmla="val 6667"/>
            </a:avLst>
          </a:prstGeom>
          <a:solidFill>
            <a:srgbClr val="1A2E4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PID Control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B3CC"/>
                </a:solidFill>
              </a:rPr>
              <a:t>3-Axis Loops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The Core Challenge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Modern surveillance, search-and-rescue, and security operations demand autonomous aerial tracking. Human operators cannot react fast enough or maintain continuous lock on moving targets: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Manual drone piloting loses target in complex environments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Latency in human reaction creates tracking gaps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No robust real-time feedback loop between vision and flight control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Existing solutions lack integration of detection + estimation + control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760720" y="749808"/>
            <a:ext cx="3017520" cy="1234440"/>
          </a:xfrm>
          <a:prstGeom prst="rect">
            <a:avLst>
              <a:gd name="adj" fmla="val 5926"/>
            </a:avLst>
          </a:prstGeom>
          <a:solidFill>
            <a:srgbClr val="0D1B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8412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70%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852160" y="1435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of rescue missions involve moving targets (FEMA 2023)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60720" y="2167128"/>
            <a:ext cx="3017520" cy="1234440"/>
          </a:xfrm>
          <a:prstGeom prst="rect">
            <a:avLst>
              <a:gd name="adj" fmla="val 5926"/>
            </a:avLst>
          </a:prstGeom>
          <a:solidFill>
            <a:srgbClr val="0D1B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22585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3–5×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852160" y="28529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slower response with manual drone piloting vs. autonomous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3584448"/>
            <a:ext cx="3017520" cy="1234440"/>
          </a:xfrm>
          <a:prstGeom prst="rect">
            <a:avLst>
              <a:gd name="adj" fmla="val 5926"/>
            </a:avLst>
          </a:prstGeom>
          <a:solidFill>
            <a:srgbClr val="0D1B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36758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&lt; 50ms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852160" y="4270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required detection latency for stable tracking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846320"/>
            <a:ext cx="1828800" cy="2971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Objective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A96"/>
                </a:solidFill>
              </a:rPr>
              <a:t>What We Aim To Achieve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051560"/>
          </a:xfrm>
          <a:prstGeom prst="rect">
            <a:avLst>
              <a:gd name="adj" fmla="val 6087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64008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61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🎯  Real-Time Object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600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Simulate YOLOv8-class detection on moving targets (person/vehicle) with normalized bounding box output at &gt;30 FPS.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206240" cy="1051560"/>
          </a:xfrm>
          <a:prstGeom prst="rect">
            <a:avLst>
              <a:gd name="adj" fmla="val 6087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88720"/>
            <a:ext cx="64008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261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📡  Kalman Filter Tracking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19472" y="1600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Smooth noisy detections and predict target motion using a constant-velocity Kalman filter for robust state estimation.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4206240" cy="1051560"/>
          </a:xfrm>
          <a:prstGeom prst="rect">
            <a:avLst>
              <a:gd name="adj" fmla="val 6087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95728"/>
            <a:ext cx="64008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🚁  PID Control Loops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28072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Three independent PID loops (yaw, altitude, forward) translate tracking errors into stable flight commands in real time.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395728"/>
            <a:ext cx="4206240" cy="1051560"/>
          </a:xfrm>
          <a:prstGeom prst="rect">
            <a:avLst>
              <a:gd name="adj" fmla="val 6087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395728"/>
            <a:ext cx="64008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🔗  ROS 2 Integration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28072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Full topic-based architecture connecting detection → tracking → control → flight bridge, visible in RViz and Gazebo.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602736"/>
            <a:ext cx="4206240" cy="1051560"/>
          </a:xfrm>
          <a:prstGeom prst="rect">
            <a:avLst>
              <a:gd name="adj" fmla="val 6087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602736"/>
            <a:ext cx="64008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6758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📊  Live Monitoring &amp; Tuning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40142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rqt_plot dashboards and live parameter tuning via ros2 param without restarting nodes.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602736"/>
            <a:ext cx="4206240" cy="1051560"/>
          </a:xfrm>
          <a:prstGeom prst="rect">
            <a:avLst>
              <a:gd name="adj" fmla="val 6087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602736"/>
            <a:ext cx="64008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6758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🔌  Hardware-Ready Architecture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40142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Plug-in MAVROS bridge to deploy identical logic on real PX4/ArduPilot hardware with minimal code changes.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846320"/>
            <a:ext cx="1828800" cy="2971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Proposed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DroneTrackAI — One Pipeline. Zero Tracking Gaps.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737360"/>
          </a:xfrm>
          <a:prstGeom prst="rect">
            <a:avLst>
              <a:gd name="adj" fmla="val 4211"/>
            </a:avLst>
          </a:prstGeom>
          <a:solidFill>
            <a:srgbClr val="152236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206240" cy="384048"/>
          </a:xfrm>
          <a:prstGeom prst="rect">
            <a:avLst>
              <a:gd name="adj" fmla="val 19048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4206240" cy="12801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60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</a:rPr>
              <a:t>🛰️  Simulated YOLOv8 Detection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detection_node.py mimics a camera + YOLOv8 model, publishing normalized bbox centroids and area to /detection/bbox at configurable FPS. Drop-in swap for real YOLOv8 with 4 lines of code.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06240" cy="1737360"/>
          </a:xfrm>
          <a:prstGeom prst="rect">
            <a:avLst>
              <a:gd name="adj" fmla="val 4211"/>
            </a:avLst>
          </a:prstGeom>
          <a:solidFill>
            <a:srgbClr val="152236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4206240" cy="384048"/>
          </a:xfrm>
          <a:prstGeom prst="rect">
            <a:avLst>
              <a:gd name="adj" fmla="val 19048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4206240" cy="12801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60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</a:rPr>
              <a:t>📈  Kalman Filter State Estimator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148132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tracker_node.py absorbs noisy bbox data and outputs smooth /track/state + /track/velocity. Handles target occlusion with prediction-only mode for up to N missed frames.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206240" cy="1737360"/>
          </a:xfrm>
          <a:prstGeom prst="rect">
            <a:avLst>
              <a:gd name="adj" fmla="val 4211"/>
            </a:avLst>
          </a:prstGeom>
          <a:solidFill>
            <a:srgbClr val="152236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26080"/>
            <a:ext cx="4206240" cy="384048"/>
          </a:xfrm>
          <a:prstGeom prst="rect">
            <a:avLst>
              <a:gd name="adj" fmla="val 19048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182112"/>
            <a:ext cx="4206240" cy="12801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809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</a:rPr>
              <a:t>⚙️  Triple-Axis PID Controller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340156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pid_controller_node.py runs three decoupled loops: yaw (horizontal centering), altitude (size/area control), forward (distance keeping). All gains tunable live.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206240" cy="1737360"/>
          </a:xfrm>
          <a:prstGeom prst="rect">
            <a:avLst>
              <a:gd name="adj" fmla="val 4211"/>
            </a:avLst>
          </a:prstGeom>
          <a:solidFill>
            <a:srgbClr val="152236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926080"/>
            <a:ext cx="4206240" cy="384048"/>
          </a:xfrm>
          <a:prstGeom prst="rect">
            <a:avLst>
              <a:gd name="adj" fmla="val 19048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182112"/>
            <a:ext cx="4206240" cy="12801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9809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</a:rPr>
              <a:t>🚀  Flight Bridge + Gazebo Physics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340156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flight_bridge_node.py integrates velocity commands and publishes /drone/pose feedback. Full Gazebo world with walking actor; swap to MAVROS for real flight.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846320"/>
            <a:ext cx="1828800" cy="2971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 Stack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2011680" cy="384048"/>
          </a:xfrm>
          <a:prstGeom prst="rect">
            <a:avLst>
              <a:gd name="adj" fmla="val 11905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Robotics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ROS 2 Humble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Gazebo Classic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6060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606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RViz2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2918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rqt_plot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977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colcon build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41448" y="731520"/>
            <a:ext cx="2011680" cy="384048"/>
          </a:xfrm>
          <a:prstGeom prst="rect">
            <a:avLst>
              <a:gd name="adj" fmla="val 1190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731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Computer Vision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41448" y="12344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41448" y="1234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YOLOv8 (sim)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41448" y="19202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OpenCV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41448" y="26060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41448" y="2606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cv_bridge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41448" y="32918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41448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NumPy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41448" y="39776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41448" y="3977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Kalman Filter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08576" y="731520"/>
            <a:ext cx="2011680" cy="384048"/>
          </a:xfrm>
          <a:prstGeom prst="rect">
            <a:avLst>
              <a:gd name="adj" fmla="val 1190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8576" y="731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Control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08576" y="12344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FF6B35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8576" y="1234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PID Controller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08576" y="19202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FF6B35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08576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3-Axis Loops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08576" y="26060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FF6B35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2606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Anti-Windup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08576" y="32918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FF6B35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Live ros2 param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08576" y="39776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FF6B35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08576" y="3977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MAVROS bridge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75704" y="731520"/>
            <a:ext cx="2011680" cy="384048"/>
          </a:xfrm>
          <a:prstGeom prst="rect">
            <a:avLst>
              <a:gd name="adj" fmla="val 11905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75704" y="731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Infra &amp; Comms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775704" y="12344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75704" y="1234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geometry_msgs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75704" y="19202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75704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visualization_msgs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75704" y="26060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75704" y="2606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tf2_ros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75704" y="32918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75704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ros2 bag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775704" y="3977640"/>
            <a:ext cx="2011680" cy="548640"/>
          </a:xfrm>
          <a:prstGeom prst="rect">
            <a:avLst>
              <a:gd name="adj" fmla="val 8333"/>
            </a:avLst>
          </a:prstGeom>
          <a:solidFill>
            <a:srgbClr val="152236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75704" y="3977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Ubuntu 22.04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4846320"/>
            <a:ext cx="1828800" cy="2971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8046720" cy="54864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651760"/>
            <a:ext cx="1371600" cy="2057400"/>
          </a:xfrm>
          <a:prstGeom prst="rect">
            <a:avLst>
              <a:gd name="adj" fmla="val 4000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30906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Requirement Sprint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(0–4 hrs)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3639312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Problem validation, MVP scope, ROS topic design, PID gain strategy.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984248" y="1920240"/>
            <a:ext cx="594360" cy="59436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09928" y="2651760"/>
            <a:ext cx="1371600" cy="2057400"/>
          </a:xfrm>
          <a:prstGeom prst="rect">
            <a:avLst>
              <a:gd name="adj" fmla="val 4000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9928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55648" y="30906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ROS Scaffold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(4–10 hrs)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755648" y="3639312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Package setup, node stubs, topic graph, launch file, param YAML.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419856" y="1920240"/>
            <a:ext cx="594360" cy="59436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45536" y="2651760"/>
            <a:ext cx="1371600" cy="2057400"/>
          </a:xfrm>
          <a:prstGeom prst="rect">
            <a:avLst>
              <a:gd name="adj" fmla="val 4000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5536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91256" y="30906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Core Dev Build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(10–22 hrs)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91256" y="3639312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Detection node, Kalman tracker, triple PID, flight bridge &amp; Gazebo world.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855464" y="1920240"/>
            <a:ext cx="594360" cy="594360"/>
          </a:xfrm>
          <a:prstGeom prst="ellipse">
            <a:avLst/>
          </a:prstGeom>
          <a:solidFill>
            <a:srgbClr val="1A2E4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81144" y="2651760"/>
            <a:ext cx="1371600" cy="2057400"/>
          </a:xfrm>
          <a:prstGeom prst="rect">
            <a:avLst>
              <a:gd name="adj" fmla="val 4000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1144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30906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CV Integration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(22–28 hrs)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26864" y="3639312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Tune detection FPS, Kalman noise matrices, PID gains per axis.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291072" y="1920240"/>
            <a:ext cx="594360" cy="594360"/>
          </a:xfrm>
          <a:prstGeom prst="ellipse">
            <a:avLst/>
          </a:prstGeom>
          <a:solidFill>
            <a:srgbClr val="1A2E4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16752" y="2651760"/>
            <a:ext cx="1371600" cy="2057400"/>
          </a:xfrm>
          <a:prstGeom prst="rect">
            <a:avLst>
              <a:gd name="adj" fmla="val 4000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062472" y="30906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Test &amp; QA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(28–33 hrs)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62472" y="3639312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Simulate target at varying speeds, occlusion scenarios, ros2 bag replay.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726680" y="1920240"/>
            <a:ext cx="594360" cy="594360"/>
          </a:xfrm>
          <a:prstGeom prst="ellipse">
            <a:avLst/>
          </a:prstGeom>
          <a:solidFill>
            <a:srgbClr val="1A2E4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06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52360" y="2651760"/>
            <a:ext cx="1371600" cy="2057400"/>
          </a:xfrm>
          <a:prstGeom prst="rect">
            <a:avLst>
              <a:gd name="adj" fmla="val 4000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498080" y="30906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Demo Prep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(33–36 hrs)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498080" y="3639312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Polish RViz layout, record fallback video, prepare live walkthrough.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74320" y="822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A96"/>
                </a:solidFill>
              </a:rPr>
              <a:t>(0–4 hrs)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145536" y="822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A96"/>
                </a:solidFill>
              </a:rPr>
              <a:t>(10–22 hrs)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16752" y="822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A96"/>
                </a:solidFill>
              </a:rPr>
              <a:t>(28–33 hrs)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846320"/>
            <a:ext cx="1828800" cy="2971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 / Flowchart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325880"/>
            <a:ext cx="1234440" cy="777240"/>
          </a:xfrm>
          <a:prstGeom prst="rect">
            <a:avLst>
              <a:gd name="adj" fmla="val 9412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Camera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/IMU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28600" y="18562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B3CC"/>
                </a:solidFill>
              </a:rPr>
              <a:t>(Sensor)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463040" y="1673352"/>
            <a:ext cx="201168" cy="8229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5819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►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64208" y="1325880"/>
            <a:ext cx="1234440" cy="777240"/>
          </a:xfrm>
          <a:prstGeom prst="rect">
            <a:avLst>
              <a:gd name="adj" fmla="val 9412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208" y="13716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Detection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Node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64208" y="18562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B3CC"/>
                </a:solidFill>
              </a:rPr>
              <a:t>YOLOv8 sim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898648" y="1673352"/>
            <a:ext cx="201168" cy="8229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15819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►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99816" y="1325880"/>
            <a:ext cx="1234440" cy="777240"/>
          </a:xfrm>
          <a:prstGeom prst="rect">
            <a:avLst>
              <a:gd name="adj" fmla="val 941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9816" y="13716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Tracker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99816" y="18562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B3CC"/>
                </a:solidFill>
              </a:rPr>
              <a:t>Kalman KF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334256" y="1673352"/>
            <a:ext cx="201168" cy="8229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5696" y="15819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►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35424" y="1325880"/>
            <a:ext cx="1234440" cy="777240"/>
          </a:xfrm>
          <a:prstGeom prst="rect">
            <a:avLst>
              <a:gd name="adj" fmla="val 9412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424" y="13716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Controller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35424" y="18562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B3CC"/>
                </a:solidFill>
              </a:rPr>
              <a:t>3× PID loops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769864" y="1673352"/>
            <a:ext cx="201168" cy="8229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15819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71032" y="1325880"/>
            <a:ext cx="1234440" cy="777240"/>
          </a:xfrm>
          <a:prstGeom prst="rect">
            <a:avLst>
              <a:gd name="adj" fmla="val 9412"/>
            </a:avLst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71032" y="13716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Flight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Bridge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71032" y="18562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B3CC"/>
                </a:solidFill>
              </a:rPr>
              <a:t>Physics sim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205472" y="1673352"/>
            <a:ext cx="201168" cy="8229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15819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►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06640" y="1325880"/>
            <a:ext cx="1234440" cy="777240"/>
          </a:xfrm>
          <a:prstGeom prst="rect">
            <a:avLst>
              <a:gd name="adj" fmla="val 941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13716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Gazebo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World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06640" y="18562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B3CC"/>
                </a:solidFill>
              </a:rPr>
              <a:t>(environment)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15568" y="2212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D4FF"/>
                </a:solidFill>
              </a:rPr>
              <a:t>/detection/bbox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551176" y="2212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F6B35"/>
                </a:solidFill>
              </a:rPr>
              <a:t>/track/state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FF6B35"/>
                </a:solidFill>
              </a:rPr>
              <a:t>/track/velocity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986784" y="2212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A855F7"/>
                </a:solidFill>
              </a:rPr>
              <a:t>/drone/cmd_vel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422392" y="2212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E91E8C"/>
                </a:solidFill>
              </a:rPr>
              <a:t>/drone/pose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2004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Outputs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3127248"/>
            <a:ext cx="4206240" cy="640080"/>
          </a:xfrm>
          <a:prstGeom prst="rect">
            <a:avLst>
              <a:gd name="adj" fmla="val 8571"/>
            </a:avLst>
          </a:prstGeom>
          <a:solidFill>
            <a:srgbClr val="1A2E4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1272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🗺️  Live Incident Map (RViz)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127248"/>
            <a:ext cx="4206240" cy="640080"/>
          </a:xfrm>
          <a:prstGeom prst="rect">
            <a:avLst>
              <a:gd name="adj" fmla="val 8571"/>
            </a:avLst>
          </a:prstGeom>
          <a:solidFill>
            <a:srgbClr val="1A2E4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1272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🚁  Responder Alert (/drone/pose)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3904488"/>
            <a:ext cx="4206240" cy="640080"/>
          </a:xfrm>
          <a:prstGeom prst="rect">
            <a:avLst>
              <a:gd name="adj" fmla="val 8571"/>
            </a:avLst>
          </a:prstGeom>
          <a:solidFill>
            <a:srgbClr val="1A2E4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9044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📲  Target Status (/track/state)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3904488"/>
            <a:ext cx="4206240" cy="640080"/>
          </a:xfrm>
          <a:prstGeom prst="rect">
            <a:avLst>
              <a:gd name="adj" fmla="val 8571"/>
            </a:avLst>
          </a:prstGeom>
          <a:solidFill>
            <a:srgbClr val="1A2E4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9044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 Command Dashboard (rqt_plot)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A96"/>
                </a:solidFill>
              </a:rPr>
              <a:t>Flow: Sensor → Detection → Kalman Tracking → PID Control → Flight Bridge → Simulation Output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846320"/>
            <a:ext cx="1828800" cy="2971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USP &amp; Key Benefits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2788920" cy="1737360"/>
          </a:xfrm>
          <a:prstGeom prst="rect">
            <a:avLst>
              <a:gd name="adj" fmla="val 4211"/>
            </a:avLst>
          </a:prstGeom>
          <a:solidFill>
            <a:srgbClr val="152236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41832"/>
            <a:ext cx="475488" cy="475488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41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941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Real-Time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End-to-end latency under 50 ms from detection to velocity command. PID loops running at 30 Hz maintain smooth target lock.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27832" y="777240"/>
            <a:ext cx="2788920" cy="1737360"/>
          </a:xfrm>
          <a:prstGeom prst="rect">
            <a:avLst>
              <a:gd name="adj" fmla="val 4211"/>
            </a:avLst>
          </a:prstGeom>
          <a:solidFill>
            <a:srgbClr val="152236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941832"/>
            <a:ext cx="475488" cy="475488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941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05072" y="941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Works in Sim &amp; Hardware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64992" y="1435608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Identical codebase runs in Gazebo simulation and on real PX4/ArduPilot via a single MAVROS bridge swap.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81344" y="777240"/>
            <a:ext cx="2788920" cy="1737360"/>
          </a:xfrm>
          <a:prstGeom prst="rect">
            <a:avLst>
              <a:gd name="adj" fmla="val 4211"/>
            </a:avLst>
          </a:prstGeom>
          <a:solidFill>
            <a:srgbClr val="152236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941832"/>
            <a:ext cx="475488" cy="475488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941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58584" y="941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Modular ROS 2 Nodes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8504" y="1435608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Each node is independently replaceable — swap in real YOLOv8 in 4 lines, swap tracker algorithm without touching PID.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697480"/>
            <a:ext cx="2788920" cy="1737360"/>
          </a:xfrm>
          <a:prstGeom prst="rect">
            <a:avLst>
              <a:gd name="adj" fmla="val 4211"/>
            </a:avLst>
          </a:prstGeom>
          <a:solidFill>
            <a:srgbClr val="152236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62072"/>
            <a:ext cx="475488" cy="475488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62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🔮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28620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Predictive Tracking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355848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Kalman filter predicts target position during occlusion, maintaining control output for configurable missed-frame window.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27832" y="2697480"/>
            <a:ext cx="2788920" cy="1737360"/>
          </a:xfrm>
          <a:prstGeom prst="rect">
            <a:avLst>
              <a:gd name="adj" fmla="val 4211"/>
            </a:avLst>
          </a:prstGeom>
          <a:solidFill>
            <a:srgbClr val="152236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10712" y="2862072"/>
            <a:ext cx="475488" cy="475488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2862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🎛️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005072" y="28620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Live PID Tuning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64992" y="3355848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All gains adjustable via ros2 param at runtime. No restart needed — iterate yaw, alt, forward loops in seconds.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81344" y="2697480"/>
            <a:ext cx="2788920" cy="1737360"/>
          </a:xfrm>
          <a:prstGeom prst="rect">
            <a:avLst>
              <a:gd name="adj" fmla="val 4211"/>
            </a:avLst>
          </a:prstGeom>
          <a:solidFill>
            <a:srgbClr val="152236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64224" y="2862072"/>
            <a:ext cx="475488" cy="475488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4224" y="2862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58584" y="28620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Open &amp; Extensible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18504" y="3355848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Full ROS 2 bag recording, rqt_plot monitoring. Plug in any YOLO model, tracker, or controller without restructuring.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846320"/>
            <a:ext cx="1828800" cy="2971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Innovation &amp; Differentiation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7432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71800" y="749808"/>
            <a:ext cx="29260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749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Existing Drone Systems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97880" y="749808"/>
            <a:ext cx="31089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7498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DroneTrackAI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252728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25272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Real-time object tracking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71800" y="1252728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1252728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❌ Manual operator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97880" y="1252728"/>
            <a:ext cx="3108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7608" y="1252728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7A55"/>
                </a:solidFill>
              </a:rPr>
              <a:t>✅ Automated CV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755648"/>
            <a:ext cx="2743200" cy="5029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175564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AI-driven detection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71800" y="1755648"/>
            <a:ext cx="2926080" cy="5029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81528" y="1755648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❌ Not available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755648"/>
            <a:ext cx="3108960" cy="5029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07608" y="1755648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7A55"/>
                </a:solidFill>
              </a:rPr>
              <a:t>✅ YOLOv8-class sim + plug-in real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258568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22585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State estimation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71800" y="2258568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81528" y="2258568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⚠️ Raw bbox only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97880" y="2258568"/>
            <a:ext cx="3108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07608" y="2258568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7A55"/>
                </a:solidFill>
              </a:rPr>
              <a:t>✅ Kalman filter with velocity predict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2761488"/>
            <a:ext cx="2743200" cy="5029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276148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PID flight control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71800" y="2761488"/>
            <a:ext cx="2926080" cy="5029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81528" y="2761488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⚠️ Single-axis or manual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97880" y="2761488"/>
            <a:ext cx="3108960" cy="5029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07608" y="2761488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7A55"/>
                </a:solidFill>
              </a:rPr>
              <a:t>✅ Triple-axis decoupled loops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264408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" y="326440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Hardware portability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71800" y="3264408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81528" y="3264408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❌ Platform-locked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97880" y="3264408"/>
            <a:ext cx="3108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07608" y="3264408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7A55"/>
                </a:solidFill>
              </a:rPr>
              <a:t>✅ MAVROS bridge, any PX4/ArduPilot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3767328"/>
            <a:ext cx="2743200" cy="5029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" y="376732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Live parameter tuning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971800" y="3767328"/>
            <a:ext cx="2926080" cy="5029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81528" y="3767328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⚠️ Restart required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97880" y="3767328"/>
            <a:ext cx="3108960" cy="502920"/>
          </a:xfrm>
          <a:prstGeom prst="rect">
            <a:avLst/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07608" y="3767328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7A55"/>
                </a:solidFill>
              </a:rPr>
              <a:t>✅ ros2 param at runtime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846320"/>
            <a:ext cx="1828800" cy="2971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3950208"/>
          </a:xfrm>
          <a:prstGeom prst="rect">
            <a:avLst>
              <a:gd name="adj" fmla="val 3279"/>
            </a:avLst>
          </a:prstGeom>
          <a:solidFill>
            <a:srgbClr val="00D4FF">
              <a:alpha val="6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788920" cy="548640"/>
          </a:xfrm>
          <a:prstGeom prst="rect">
            <a:avLst>
              <a:gd name="adj" fmla="val 1666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88920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955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Phase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1155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(1–3 months)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1508760"/>
            <a:ext cx="246888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01368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508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Real YOLOv8 integration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(ultralytics)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2532888"/>
            <a:ext cx="246888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825496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53288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Multi-target tracking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(SORT / DeepSORT)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3557016"/>
            <a:ext cx="246888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849624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557016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ROS bag auto-analysis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pipeline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777240"/>
            <a:ext cx="2788920" cy="3950208"/>
          </a:xfrm>
          <a:prstGeom prst="rect">
            <a:avLst>
              <a:gd name="adj" fmla="val 3279"/>
            </a:avLst>
          </a:prstGeom>
          <a:solidFill>
            <a:srgbClr val="00A896">
              <a:alpha val="6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777240"/>
            <a:ext cx="2788920" cy="548640"/>
          </a:xfrm>
          <a:prstGeom prst="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097280"/>
            <a:ext cx="2788920" cy="228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7955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Phase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11155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(3–6 months)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64992" y="1508760"/>
            <a:ext cx="246888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180136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888" y="1508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Real hardware deployment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(PX4 + MAVROS)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64992" y="2532888"/>
            <a:ext cx="246888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2825496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253288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GPS-fused altitude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estimation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64992" y="3557016"/>
            <a:ext cx="246888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29000" y="3849624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75888" y="3557016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Deep learning re-ID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for target swap recovery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777240"/>
            <a:ext cx="2788920" cy="3950208"/>
          </a:xfrm>
          <a:prstGeom prst="rect">
            <a:avLst>
              <a:gd name="adj" fmla="val 3279"/>
            </a:avLst>
          </a:prstGeom>
          <a:solidFill>
            <a:srgbClr val="FF6B35">
              <a:alpha val="6000"/>
            </a:srgbClr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777240"/>
            <a:ext cx="2788920" cy="548640"/>
          </a:xfrm>
          <a:prstGeom prst="rect">
            <a:avLst>
              <a:gd name="adj" fmla="val 16667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1097280"/>
            <a:ext cx="2788920" cy="228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7955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Phase 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26480" y="11155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(6–12 months)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91072" y="1508760"/>
            <a:ext cx="246888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6B35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5080" y="1801368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1508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Swarm coordination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(2+ drones, one target)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91072" y="2532888"/>
            <a:ext cx="246888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6B35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2825496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01968" y="253288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Edge inference 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Jetson Nano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91072" y="3557016"/>
            <a:ext cx="246888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6B35">
                <a:alpha val="7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3849624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01968" y="3557016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Encrypted comms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&amp; remote ops center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663440"/>
            <a:ext cx="9144000" cy="19659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6817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🌍  Ultimate Vision: Fully autonomous drone swarms deployed for disaster response, border patrol, and wildlife monitoring globally.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846320"/>
            <a:ext cx="1828800" cy="2971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Our Team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3611880"/>
          </a:xfrm>
          <a:prstGeom prst="rect">
            <a:avLst>
              <a:gd name="adj" fmla="val 4545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14400"/>
            <a:ext cx="914400" cy="9144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Member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Team Lead / ROS Dev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ROS 2, Python, System Design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1371600" cy="347472"/>
          </a:xfrm>
          <a:prstGeom prst="rect">
            <a:avLst>
              <a:gd name="adj" fmla="val 1578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46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LinkedIn 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41448" y="777240"/>
            <a:ext cx="2011680" cy="3611880"/>
          </a:xfrm>
          <a:prstGeom prst="rect">
            <a:avLst>
              <a:gd name="adj" fmla="val 4545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0088" y="914400"/>
            <a:ext cx="914400" cy="9144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0088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32888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Member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32888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CV &amp; AI Engineer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32888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YOLOv8, OpenCV, Kalman Filter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61488" y="3246120"/>
            <a:ext cx="1371600" cy="347472"/>
          </a:xfrm>
          <a:prstGeom prst="rect">
            <a:avLst>
              <a:gd name="adj" fmla="val 1578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61488" y="3246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LinkedIn ↗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08576" y="777240"/>
            <a:ext cx="2011680" cy="3611880"/>
          </a:xfrm>
          <a:prstGeom prst="rect">
            <a:avLst>
              <a:gd name="adj" fmla="val 4545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57216" y="914400"/>
            <a:ext cx="914400" cy="9144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57216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RV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00016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Member 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00016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Controls Engineer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0016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PID, MAVROS, ArduPilot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28616" y="3246120"/>
            <a:ext cx="1371600" cy="347472"/>
          </a:xfrm>
          <a:prstGeom prst="rect">
            <a:avLst>
              <a:gd name="adj" fmla="val 1578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3246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LinkedIn ↗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75704" y="777240"/>
            <a:ext cx="2011680" cy="3611880"/>
          </a:xfrm>
          <a:prstGeom prst="rect">
            <a:avLst>
              <a:gd name="adj" fmla="val 4545"/>
            </a:avLst>
          </a:prstGeom>
          <a:solidFill>
            <a:srgbClr val="F4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24344" y="914400"/>
            <a:ext cx="914400" cy="9144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24344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SP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67144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Member 4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67144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5F7"/>
                </a:solidFill>
              </a:rPr>
              <a:t>Simulation &amp; DevOps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67144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Gazebo, RViz, Docker, colcon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095744" y="3246120"/>
            <a:ext cx="1371600" cy="347472"/>
          </a:xfrm>
          <a:prstGeom prst="rect">
            <a:avLst>
              <a:gd name="adj" fmla="val 1578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95744" y="3246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LinkedIn ↗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7A96"/>
                </a:solidFill>
              </a:rPr>
              <a:t>Building autonomous systems for the physical world — one ROS node at a time. 🚁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846320"/>
            <a:ext cx="1828800" cy="2971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8"/>
                </a:solidFill>
              </a:rPr>
              <a:t>Let's build autonomous systems that protect and serve.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2423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3CC"/>
                </a:solidFill>
              </a:rPr>
              <a:t>📧  teamNOS@dronetrack.dev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2862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3CC"/>
                </a:solidFill>
              </a:rPr>
              <a:t>🔗  github.com/team-nos/drone-tracker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330098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3CC"/>
                </a:solidFill>
              </a:rPr>
              <a:t>🌐  team-nos.vercel.app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3977640"/>
            <a:ext cx="3291840" cy="548640"/>
          </a:xfrm>
          <a:prstGeom prst="rect">
            <a:avLst>
              <a:gd name="adj" fmla="val 13333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🙋 Q&amp;A — We're ready!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Object Tracking Drone</dc:title>
  <dc:subject>PptxGenJS Presentation</dc:subject>
  <dc:creator>PptxGenJS</dc:creator>
  <cp:lastModifiedBy>PptxGenJS</cp:lastModifiedBy>
  <cp:revision>1</cp:revision>
  <dcterms:created xsi:type="dcterms:W3CDTF">2026-04-09T10:15:07Z</dcterms:created>
  <dcterms:modified xsi:type="dcterms:W3CDTF">2026-04-09T10:15:07Z</dcterms:modified>
</cp:coreProperties>
</file>